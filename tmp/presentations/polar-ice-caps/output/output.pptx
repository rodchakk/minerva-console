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6bc9f9c3fb41f9" /><Relationship Type="http://schemas.openxmlformats.org/officeDocument/2006/relationships/extended-properties" Target="/docProps/app.xml" Id="R45673715a4d94978" /><Relationship Type="http://schemas.openxmlformats.org/officeDocument/2006/relationships/officeDocument" Target="/ppt/presentation.xml" Id="R8959099c71cb4a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01a22dd7bc4598"/>
  </p:sldMasterIdLst>
  <p:notesMasterIdLst>
    <p:notesMasterId xmlns:r="http://schemas.openxmlformats.org/officeDocument/2006/relationships" r:id="R53c973a89c5a4a84"/>
  </p:notesMasterIdLst>
  <p:sldIdLst>
    <p:sldId xmlns:r="http://schemas.openxmlformats.org/officeDocument/2006/relationships" id="256" r:id="R8aec555f04f04d65"/>
    <p:sldId xmlns:r="http://schemas.openxmlformats.org/officeDocument/2006/relationships" id="257" r:id="R2882bcb70d5c4f6a"/>
    <p:sldId xmlns:r="http://schemas.openxmlformats.org/officeDocument/2006/relationships" id="258" r:id="Rbb37ee5e747a4a9f"/>
    <p:sldId xmlns:r="http://schemas.openxmlformats.org/officeDocument/2006/relationships" id="259" r:id="R740aba0cfe56488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1a22dd7bc4598" /><Relationship Type="http://schemas.openxmlformats.org/officeDocument/2006/relationships/theme" Target="/ppt/theme/theme1.xml" Id="R1e1012dd59194a83" /><Relationship Type="http://schemas.openxmlformats.org/officeDocument/2006/relationships/notesMaster" Target="/ppt/notesMasters/notesMaster1.xml" Id="R53c973a89c5a4a84" /><Relationship Type="http://schemas.openxmlformats.org/officeDocument/2006/relationships/presProps" Target="/ppt/presProps.xml" Id="Rc897f14015da4459" /><Relationship Type="http://schemas.openxmlformats.org/officeDocument/2006/relationships/viewProps" Target="/ppt/viewProps.xml" Id="R82dcb7f215f248ff" /><Relationship Type="http://schemas.openxmlformats.org/officeDocument/2006/relationships/tableStyles" Target="/ppt/tableStyles.xml" Id="Rc501d332689947dd" /><Relationship Type="http://schemas.openxmlformats.org/officeDocument/2006/relationships/slide" Target="/ppt/slides/slide1.xml" Id="R8aec555f04f04d65" /><Relationship Type="http://schemas.openxmlformats.org/officeDocument/2006/relationships/slide" Target="/ppt/slides/slide2.xml" Id="R2882bcb70d5c4f6a" /><Relationship Type="http://schemas.openxmlformats.org/officeDocument/2006/relationships/slide" Target="/ppt/slides/slide3.xml" Id="Rbb37ee5e747a4a9f" /><Relationship Type="http://schemas.openxmlformats.org/officeDocument/2006/relationships/slide" Target="/ppt/slides/slide4.xml" Id="R740aba0cfe56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aaa16256c340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5f842370954890" /><Relationship Type="http://schemas.openxmlformats.org/officeDocument/2006/relationships/notesMaster" Target="/ppt/notesMasters/notesMaster1.xml" Id="R87d169e4fa274b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98859e59c64b97" /><Relationship Type="http://schemas.openxmlformats.org/officeDocument/2006/relationships/notesMaster" Target="/ppt/notesMasters/notesMaster1.xml" Id="R60e99d83e93143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6e3f6feb06419f" /><Relationship Type="http://schemas.openxmlformats.org/officeDocument/2006/relationships/notesMaster" Target="/ppt/notesMasters/notesMaster1.xml" Id="R01645baeaa1041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4d6de118814ac8" /><Relationship Type="http://schemas.openxmlformats.org/officeDocument/2006/relationships/notesMaster" Target="/ppt/notesMasters/notesMaster1.xml" Id="R491225da57f84d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4328b8e554a9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be03a606bc446a" /><Relationship Type="http://schemas.openxmlformats.org/officeDocument/2006/relationships/slideLayout" Target="/ppt/slideLayouts/slideLayout2.xml" Id="R93691143af58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691143af58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6923e1e75043c7" /><Relationship Type="http://schemas.openxmlformats.org/officeDocument/2006/relationships/notesSlide" Target="/ppt/notesSlides/notesSlide1.xml" Id="R7c0090077b6f48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41f50d18448cc" /><Relationship Type="http://schemas.openxmlformats.org/officeDocument/2006/relationships/notesSlide" Target="/ppt/notesSlides/notesSlide2.xml" Id="Rdfb42b55637342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51ab298fa4192" /><Relationship Type="http://schemas.openxmlformats.org/officeDocument/2006/relationships/notesSlide" Target="/ppt/notesSlides/notesSlide3.xml" Id="R21870b854ff744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eb64ad859d4949" /><Relationship Type="http://schemas.openxmlformats.org/officeDocument/2006/relationships/notesSlide" Target="/ppt/notesSlides/notesSlide4.xml" Id="R889cf795a43248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B0D08A26-05BA-4419-94A7-E4AF6C0B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33"/>
          </a:solidFill>
        </p:spPr>
      </p:sp>
      <p:sp>
        <p:nvSpPr>
          <p:cNvPr id="2" name="cover-sweep-top">
            <a:extLst xmlns:a="http://schemas.openxmlformats.org/drawingml/2006/main">
              <a:ext uri="{FF2B5EF4-FFF2-40B4-BE49-F238E27FC236}">
                <a16:creationId xmlns:a16="http://schemas.microsoft.com/office/drawing/2014/main" id="{70AEB5A9-A3C2-4176-B281-473D1171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4D72"/>
          </a:solidFill>
        </p:spPr>
      </p:sp>
      <p:sp>
        <p:nvSpPr>
          <p:cNvPr id="3" name="cover-sweep-bottom">
            <a:extLst xmlns:a="http://schemas.openxmlformats.org/drawingml/2006/main">
              <a:ext uri="{FF2B5EF4-FFF2-40B4-BE49-F238E27FC236}">
                <a16:creationId xmlns:a16="http://schemas.microsoft.com/office/drawing/2014/main" id="{1EDD0A38-1812-4059-9497-7A8AE8C1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B86"/>
          </a:solidFill>
        </p:spPr>
      </p:sp>
      <p:sp>
        <p:nvSpPr>
          <p:cNvPr id="4" name="chip-Short presentation">
            <a:extLst xmlns:a="http://schemas.openxmlformats.org/drawingml/2006/main">
              <a:ext uri="{FF2B5EF4-FFF2-40B4-BE49-F238E27FC236}">
                <a16:creationId xmlns:a16="http://schemas.microsoft.com/office/drawing/2014/main" id="{21ED12EE-6240-408F-BB72-FB10AE94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"/>
            <a:ext cx="1675162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08970-71E6-45AA-B905-19D1C169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01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F4FF"/>
                </a:solidFill>
              </a:defRPr>
            </a:pPr>
            <a:r>
              <a:rPr sz="1350" b="1">
                <a:solidFill>
                  <a:srgbClr val="DDF4FF"/>
                </a:solidFill>
              </a:rPr>
              <a:t>Short presentation</a:t>
            </a:r>
          </a:p>
        </p:txBody>
      </p:sp>
      <p:sp>
        <p:nvSpPr>
          <p:cNvPr id="6" name="chip-4 slides">
            <a:extLst xmlns:a="http://schemas.openxmlformats.org/drawingml/2006/main">
              <a:ext uri="{FF2B5EF4-FFF2-40B4-BE49-F238E27FC236}">
                <a16:creationId xmlns:a16="http://schemas.microsoft.com/office/drawing/2014/main" id="{DCD96553-B9CA-4E8B-BFBA-2BB5CF1C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762" y="704850"/>
            <a:ext cx="867823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D4462-17C8-493F-ABF4-F3CE5C52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0010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F4FF"/>
                </a:solidFill>
              </a:defRPr>
            </a:pPr>
            <a:r>
              <a:rPr sz="1350" b="1">
                <a:solidFill>
                  <a:srgbClr val="DDF4FF"/>
                </a:solidFill>
              </a:rPr>
              <a:t>4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06B42-A34F-46A2-A835-AA27033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05200"/>
            <a:ext cx="470535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8FCFF"/>
                </a:solidFill>
              </a:defRPr>
            </a:pPr>
            <a:r>
              <a:rPr sz="6450" b="1">
                <a:solidFill>
                  <a:srgbClr val="F8FCFF"/>
                </a:solidFill>
              </a:rPr>
              <a:t>Polar Ice Caps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89B00-2518-47D9-AF2A-291D3993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76900"/>
            <a:ext cx="6400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DF4FF"/>
                </a:solidFill>
              </a:defRPr>
            </a:pPr>
            <a:r>
              <a:rPr sz="2250">
                <a:solidFill>
                  <a:srgbClr val="DDF4FF"/>
                </a:solidFill>
              </a:rPr>
              <a:t>What they are, where they are, and why they matter to our planet.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04662-EAA3-45D8-8335-412767E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30480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6EC5E9"/>
                </a:solidFill>
              </a:defRPr>
            </a:pPr>
            <a:r>
              <a:rPr sz="6900" b="1">
                <a:solidFill>
                  <a:srgbClr val="6EC5E9"/>
                </a:solidFill>
              </a:rPr>
              <a:t>66° North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E892C-7238-4FB1-8C85-F14A5107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00650"/>
            <a:ext cx="30480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8FCFF"/>
                </a:solidFill>
              </a:defRPr>
            </a:pPr>
            <a:r>
              <a:rPr sz="6900" b="1">
                <a:solidFill>
                  <a:srgbClr val="F8FCFF"/>
                </a:solidFill>
              </a:rPr>
              <a:t>66° South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9DE54-883A-47AA-A4A8-6259868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315200"/>
            <a:ext cx="3009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DF4FF"/>
                </a:solidFill>
              </a:defRPr>
            </a:pPr>
            <a:r>
              <a:rPr sz="1500">
                <a:solidFill>
                  <a:srgbClr val="DDF4FF"/>
                </a:solidFill>
              </a:rPr>
              <a:t>approximate limits of the polar regions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014EB-0FA5-4BEF-AE73-C1C87EEC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935355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5D8F3"/>
                </a:solidFill>
              </a:defRPr>
            </a:pPr>
            <a:r>
              <a:rPr sz="1500">
                <a:solidFill>
                  <a:srgbClr val="A5D8F3"/>
                </a:solidFill>
              </a:rPr>
              <a:t>Arctic at the North Pole. Antarctica at the South Pole.</a:t>
            </a:r>
          </a:p>
        </p:txBody>
      </p:sp>
    </p:spTree>
    <p:extLst>
      <p:ext uri="{BB962C8B-B14F-4D97-AF65-F5344CB8AC3E}">
        <p14:creationId xmlns:p14="http://schemas.microsoft.com/office/powerpoint/2010/main" val="17441585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ocation-bg">
            <a:extLst xmlns:a="http://schemas.openxmlformats.org/drawingml/2006/main">
              <a:ext uri="{FF2B5EF4-FFF2-40B4-BE49-F238E27FC236}">
                <a16:creationId xmlns:a16="http://schemas.microsoft.com/office/drawing/2014/main" id="{06D96BC2-BDD9-4496-8712-B4CC2626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3525CA-20C1-4FE7-AD9E-56F94532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3A5A"/>
                </a:solidFill>
              </a:defRPr>
            </a:pPr>
            <a:r>
              <a:rPr sz="4350" b="1">
                <a:solidFill>
                  <a:srgbClr val="123A5A"/>
                </a:solidFill>
              </a:rPr>
              <a:t>Where they are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D39F87-1E9B-491F-B9DD-9FFC75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C6B82"/>
                </a:solidFill>
              </a:defRPr>
            </a:pPr>
            <a:r>
              <a:rPr sz="1800">
                <a:solidFill>
                  <a:srgbClr val="4C6B82"/>
                </a:solidFill>
              </a:rPr>
              <a:t>Polar ice caps occupy the ends of the Earth and lie beyond 66° latitude.</a:t>
            </a:r>
          </a:p>
        </p:txBody>
      </p:sp>
      <p:sp>
        <p:nvSpPr>
          <p:cNvPr id="4" name="card-Arctic">
            <a:extLst xmlns:a="http://schemas.openxmlformats.org/drawingml/2006/main">
              <a:ext uri="{FF2B5EF4-FFF2-40B4-BE49-F238E27FC236}">
                <a16:creationId xmlns:a16="http://schemas.microsoft.com/office/drawing/2014/main" id="{D83B5CFF-1BDC-4999-BF52-A2C46E33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5010"/>
            <a:ext cx="8201025" cy="7094220"/>
          </a:xfrm>
          <a:prstGeom xmlns:a="http://schemas.openxmlformats.org/drawingml/2006/main" prst="roundRect">
            <a:avLst>
              <a:gd name="adj" fmla="val 1611"/>
            </a:avLst>
          </a:prstGeom>
          <a:solidFill xmlns:a="http://schemas.openxmlformats.org/drawingml/2006/main">
            <a:srgbClr val="F7FB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19BC4-76F8-47F0-B00D-74C611F2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95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A"/>
                </a:solidFill>
              </a:defRPr>
            </a:pPr>
            <a:r>
              <a:rPr sz="3150" b="1">
                <a:solidFill>
                  <a:srgbClr val="123A5A"/>
                </a:solidFill>
              </a:rPr>
              <a:t>Arctic</a:t>
            </a:r>
          </a:p>
        </p:txBody>
      </p:sp>
      <p:sp>
        <p:nvSpPr>
          <p:cNvPr id="6" name="chip-North">
            <a:extLst xmlns:a="http://schemas.openxmlformats.org/drawingml/2006/main">
              <a:ext uri="{FF2B5EF4-FFF2-40B4-BE49-F238E27FC236}">
                <a16:creationId xmlns:a16="http://schemas.microsoft.com/office/drawing/2014/main" id="{09F6DB43-3580-4AAC-91D5-8344796B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849" y="2419350"/>
            <a:ext cx="760476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DBF95-C23F-4EAF-A15B-EEC3B245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F4FF"/>
                </a:solidFill>
              </a:defRPr>
            </a:pPr>
            <a:r>
              <a:rPr sz="1350" b="1">
                <a:solidFill>
                  <a:srgbClr val="DDF4FF"/>
                </a:solidFill>
              </a:rPr>
              <a:t>North</a:t>
            </a:r>
          </a:p>
        </p:txBody>
      </p:sp>
      <p:sp>
        <p:nvSpPr>
          <p:cNvPr id="8" name="disc-Arctic">
            <a:extLst xmlns:a="http://schemas.openxmlformats.org/drawingml/2006/main">
              <a:ext uri="{FF2B5EF4-FFF2-40B4-BE49-F238E27FC236}">
                <a16:creationId xmlns:a16="http://schemas.microsoft.com/office/drawing/2014/main" id="{96B79099-FF86-4DA0-B2F8-C3AB0E4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DDF7"/>
          </a:solidFill>
        </p:spPr>
      </p:sp>
      <p:sp>
        <p:nvSpPr>
          <p:cNvPr id="9" name="ring-Arctic">
            <a:extLst xmlns:a="http://schemas.openxmlformats.org/drawingml/2006/main">
              <a:ext uri="{FF2B5EF4-FFF2-40B4-BE49-F238E27FC236}">
                <a16:creationId xmlns:a16="http://schemas.microsoft.com/office/drawing/2014/main" id="{375D7DCB-57A6-4093-8695-2A373694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11239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667"/>
            </a:srgbClr>
          </a:solidFill>
        </p:spPr>
      </p:sp>
      <p:sp>
        <p:nvSpPr>
          <p:cNvPr id="10" name="axis-Arctic">
            <a:extLst xmlns:a="http://schemas.openxmlformats.org/drawingml/2006/main">
              <a:ext uri="{FF2B5EF4-FFF2-40B4-BE49-F238E27FC236}">
                <a16:creationId xmlns:a16="http://schemas.microsoft.com/office/drawing/2014/main" id="{37F7BDAA-D0E8-431B-A8FD-67E04E48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100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7D4"/>
          </a:solidFill>
          <a:ln xmlns:a="http://schemas.openxmlformats.org/drawingml/2006/main" w="0">
            <a:solidFill>
              <a:srgbClr val="7AB7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C154B-6DC9-4C5E-BE9B-8991383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1455F"/>
                </a:solidFill>
              </a:defRPr>
            </a:pPr>
            <a:r>
              <a:rPr sz="1950">
                <a:solidFill>
                  <a:srgbClr val="21455F"/>
                </a:solidFill>
              </a:rPr>
              <a:t>A frozen ocean surrounded by northern countries.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E1881-C890-4B84-BB6D-5114CAF9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D6D82"/>
                </a:solidFill>
              </a:defRPr>
            </a:pPr>
            <a:r>
              <a:rPr sz="1950">
                <a:solidFill>
                  <a:srgbClr val="4D6D82"/>
                </a:solidFill>
              </a:rPr>
              <a:t>Canada, Russia, Greenland, the United States, and Norway.</a:t>
            </a:r>
          </a:p>
        </p:txBody>
      </p:sp>
      <p:sp>
        <p:nvSpPr>
          <p:cNvPr id="13" name="card-Antarctica">
            <a:extLst xmlns:a="http://schemas.openxmlformats.org/drawingml/2006/main">
              <a:ext uri="{FF2B5EF4-FFF2-40B4-BE49-F238E27FC236}">
                <a16:creationId xmlns:a16="http://schemas.microsoft.com/office/drawing/2014/main" id="{5B264D32-BAE9-4420-9F50-4A21B4FA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85010"/>
            <a:ext cx="8201025" cy="7094220"/>
          </a:xfrm>
          <a:prstGeom xmlns:a="http://schemas.openxmlformats.org/drawingml/2006/main" prst="roundRect">
            <a:avLst>
              <a:gd name="adj" fmla="val 1611"/>
            </a:avLst>
          </a:prstGeom>
          <a:solidFill xmlns:a="http://schemas.openxmlformats.org/drawingml/2006/main">
            <a:srgbClr val="F7FBF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57ECD-B975-4A7E-A06D-28669FA2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1695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A5A"/>
                </a:solidFill>
              </a:defRPr>
            </a:pPr>
            <a:r>
              <a:rPr sz="3150" b="1">
                <a:solidFill>
                  <a:srgbClr val="123A5A"/>
                </a:solidFill>
              </a:rPr>
              <a:t>Antarctica</a:t>
            </a:r>
          </a:p>
        </p:txBody>
      </p:sp>
      <p:sp>
        <p:nvSpPr>
          <p:cNvPr id="15" name="chip-South">
            <a:extLst xmlns:a="http://schemas.openxmlformats.org/drawingml/2006/main">
              <a:ext uri="{FF2B5EF4-FFF2-40B4-BE49-F238E27FC236}">
                <a16:creationId xmlns:a16="http://schemas.microsoft.com/office/drawing/2014/main" id="{A32EFECE-453B-41C5-86D4-5CAAAAB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577" y="2247900"/>
            <a:ext cx="759523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7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7D255-DAB4-4400-9CC8-C10E9F9F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23431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F4FF"/>
                </a:solidFill>
              </a:defRPr>
            </a:pPr>
            <a:r>
              <a:rPr sz="1350" b="1">
                <a:solidFill>
                  <a:srgbClr val="DDF4FF"/>
                </a:solidFill>
              </a:rPr>
              <a:t>South</a:t>
            </a:r>
          </a:p>
        </p:txBody>
      </p:sp>
      <p:sp>
        <p:nvSpPr>
          <p:cNvPr id="17" name="disc-Antarctica">
            <a:extLst xmlns:a="http://schemas.openxmlformats.org/drawingml/2006/main">
              <a:ext uri="{FF2B5EF4-FFF2-40B4-BE49-F238E27FC236}">
                <a16:creationId xmlns:a16="http://schemas.microsoft.com/office/drawing/2014/main" id="{FD7A8ACE-4C3F-44EF-8CBC-69176C43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04800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B5D9"/>
          </a:solidFill>
        </p:spPr>
      </p:sp>
      <p:sp>
        <p:nvSpPr>
          <p:cNvPr id="18" name="ring-Antarctica">
            <a:extLst xmlns:a="http://schemas.openxmlformats.org/drawingml/2006/main">
              <a:ext uri="{FF2B5EF4-FFF2-40B4-BE49-F238E27FC236}">
                <a16:creationId xmlns:a16="http://schemas.microsoft.com/office/drawing/2014/main" id="{E8F0B7D4-0153-4A68-A173-1914DBC9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352800"/>
            <a:ext cx="112395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6667"/>
            </a:srgbClr>
          </a:solidFill>
        </p:spPr>
      </p:sp>
      <p:sp>
        <p:nvSpPr>
          <p:cNvPr id="19" name="axis-Antarctica">
            <a:extLst xmlns:a="http://schemas.openxmlformats.org/drawingml/2006/main">
              <a:ext uri="{FF2B5EF4-FFF2-40B4-BE49-F238E27FC236}">
                <a16:creationId xmlns:a16="http://schemas.microsoft.com/office/drawing/2014/main" id="{B4199C74-97F6-4215-8DCB-CA46A9E9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8671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7D4"/>
          </a:solidFill>
          <a:ln xmlns:a="http://schemas.openxmlformats.org/drawingml/2006/main" w="0">
            <a:solidFill>
              <a:srgbClr val="7AB7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D6D52-88D2-4BA9-AAF9-3484041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1455F"/>
                </a:solidFill>
              </a:defRPr>
            </a:pPr>
            <a:r>
              <a:rPr sz="1950">
                <a:solidFill>
                  <a:srgbClr val="21455F"/>
                </a:solidFill>
              </a:rPr>
              <a:t>An ice-covered continent at the South Pole.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50B8B-0A88-4ACB-AE7B-972A41C8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91150"/>
            <a:ext cx="760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D6D82"/>
                </a:solidFill>
              </a:defRPr>
            </a:pPr>
            <a:r>
              <a:rPr sz="1950">
                <a:solidFill>
                  <a:srgbClr val="4D6D82"/>
                </a:solidFill>
              </a:rPr>
              <a:t>It does not belong to one country and is governed by an international treaty.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FEA7B-682D-4A1C-BA87-7083F877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A5A"/>
                </a:solidFill>
              </a:defRPr>
            </a:pPr>
            <a:r>
              <a:rPr sz="1800" b="1">
                <a:solidFill>
                  <a:srgbClr val="123A5A"/>
                </a:solidFill>
              </a:rPr>
              <a:t>Both store enormous amounts of ice and help regulate the global climate.</a:t>
            </a:r>
          </a:p>
        </p:txBody>
      </p:sp>
    </p:spTree>
    <p:extLst>
      <p:ext uri="{BB962C8B-B14F-4D97-AF65-F5344CB8AC3E}">
        <p14:creationId xmlns:p14="http://schemas.microsoft.com/office/powerpoint/2010/main" val="981566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imate-bg">
            <a:extLst xmlns:a="http://schemas.openxmlformats.org/drawingml/2006/main">
              <a:ext uri="{FF2B5EF4-FFF2-40B4-BE49-F238E27FC236}">
                <a16:creationId xmlns:a16="http://schemas.microsoft.com/office/drawing/2014/main" id="{37BB7D98-1ED2-44EA-B888-8ABFF21A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A"/>
          </a:solidFill>
        </p:spPr>
      </p:sp>
      <p:sp>
        <p:nvSpPr>
          <p:cNvPr id="2" name="climate-band">
            <a:extLst xmlns:a="http://schemas.openxmlformats.org/drawingml/2006/main">
              <a:ext uri="{FF2B5EF4-FFF2-40B4-BE49-F238E27FC236}">
                <a16:creationId xmlns:a16="http://schemas.microsoft.com/office/drawing/2014/main" id="{42A0940F-E4EB-44DD-93D1-559C2C5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279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05B68A-FFB3-41DB-990A-A3B849D3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664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CFF"/>
                </a:solidFill>
              </a:defRPr>
            </a:pPr>
            <a:r>
              <a:rPr sz="4350" b="1">
                <a:solidFill>
                  <a:srgbClr val="F8FCFF"/>
                </a:solidFill>
              </a:rPr>
              <a:t>Extreme climate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23E0EB-BDC4-4C55-B2C5-9EA4F059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5D8F3"/>
                </a:solidFill>
              </a:defRPr>
            </a:pPr>
            <a:r>
              <a:rPr sz="1800">
                <a:solidFill>
                  <a:srgbClr val="A5D8F3"/>
                </a:solidFill>
              </a:rPr>
              <a:t>These are among the coldest places on Earth: freezing, dry, and very windy.</a:t>
            </a:r>
          </a:p>
        </p:txBody>
      </p:sp>
      <p:sp>
        <p:nvSpPr>
          <p:cNvPr id="5" name="metric-Arctic winter">
            <a:extLst xmlns:a="http://schemas.openxmlformats.org/drawingml/2006/main">
              <a:ext uri="{FF2B5EF4-FFF2-40B4-BE49-F238E27FC236}">
                <a16:creationId xmlns:a16="http://schemas.microsoft.com/office/drawing/2014/main" id="{ABC89913-6C4E-4C0A-A441-2100BD6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97430"/>
            <a:ext cx="8172450" cy="67437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5FB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50CF9-CB77-4D56-A034-5589BCC3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A5A"/>
                </a:solidFill>
              </a:defRPr>
            </a:pPr>
            <a:r>
              <a:rPr sz="1650" b="1">
                <a:solidFill>
                  <a:srgbClr val="123A5A"/>
                </a:solidFill>
              </a:rPr>
              <a:t>Arctic winter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FECD2-E5D5-4559-896F-B0DC88AE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00650"/>
            <a:ext cx="74866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F6FA8"/>
                </a:solidFill>
              </a:defRPr>
            </a:pPr>
            <a:r>
              <a:rPr sz="6150" b="1">
                <a:solidFill>
                  <a:srgbClr val="1F6FA8"/>
                </a:solidFill>
              </a:rPr>
              <a:t>-34 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F7DEE-A14A-45DB-B8E0-071A79E2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49630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4667D"/>
                </a:solidFill>
              </a:defRPr>
            </a:pPr>
            <a:r>
              <a:rPr sz="1650">
                <a:solidFill>
                  <a:srgbClr val="44667D"/>
                </a:solidFill>
              </a:rPr>
              <a:t>Average temperature</a:t>
            </a:r>
          </a:p>
        </p:txBody>
      </p:sp>
      <p:sp>
        <p:nvSpPr>
          <p:cNvPr id="9" name="metric-Antarctic winter">
            <a:extLst xmlns:a="http://schemas.openxmlformats.org/drawingml/2006/main">
              <a:ext uri="{FF2B5EF4-FFF2-40B4-BE49-F238E27FC236}">
                <a16:creationId xmlns:a16="http://schemas.microsoft.com/office/drawing/2014/main" id="{4A020FF2-AE14-43C2-9FE1-B1D7DBC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97430"/>
            <a:ext cx="8172450" cy="67437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5FB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07128-9CE6-44AB-99D5-831D221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9080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A5A"/>
                </a:solidFill>
              </a:defRPr>
            </a:pPr>
            <a:r>
              <a:rPr sz="1650" b="1">
                <a:solidFill>
                  <a:srgbClr val="123A5A"/>
                </a:solidFill>
              </a:rPr>
              <a:t>Antarctic winter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D7BCC-71DA-4F93-BA44-C9D08717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74866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4BAAB8"/>
                </a:solidFill>
              </a:defRPr>
            </a:pPr>
            <a:r>
              <a:rPr sz="6150" b="1">
                <a:solidFill>
                  <a:srgbClr val="4BAAB8"/>
                </a:solidFill>
              </a:rPr>
              <a:t>-60 °C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7346B-C1CB-4957-BFBD-1629F97D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49630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4667D"/>
                </a:solidFill>
              </a:defRPr>
            </a:pPr>
            <a:r>
              <a:rPr sz="1650">
                <a:solidFill>
                  <a:srgbClr val="44667D"/>
                </a:solidFill>
              </a:rPr>
              <a:t>Can fall even lower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A2630-398D-43B0-B1F0-096889D0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0"/>
            <a:ext cx="3790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DF4FF"/>
                </a:solidFill>
              </a:defRPr>
            </a:pPr>
            <a:r>
              <a:rPr sz="1800" b="1">
                <a:solidFill>
                  <a:srgbClr val="DDF4FF"/>
                </a:solidFill>
              </a:rPr>
              <a:t>Snow, strong winds, and permanent ice.</a:t>
            </a:r>
          </a:p>
        </p:txBody>
      </p:sp>
    </p:spTree>
    <p:extLst>
      <p:ext uri="{BB962C8B-B14F-4D97-AF65-F5344CB8AC3E}">
        <p14:creationId xmlns:p14="http://schemas.microsoft.com/office/powerpoint/2010/main" val="18218708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ife-bg">
            <a:extLst xmlns:a="http://schemas.openxmlformats.org/drawingml/2006/main">
              <a:ext uri="{FF2B5EF4-FFF2-40B4-BE49-F238E27FC236}">
                <a16:creationId xmlns:a16="http://schemas.microsoft.com/office/drawing/2014/main" id="{E6F5E51E-EFC8-4074-A8A1-2BF059C3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3A3B76-0F29-40D8-8F12-43E5B0DF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23A5A"/>
                </a:solidFill>
              </a:defRPr>
            </a:pPr>
            <a:r>
              <a:rPr sz="4350" b="1">
                <a:solidFill>
                  <a:srgbClr val="123A5A"/>
                </a:solidFill>
              </a:rPr>
              <a:t>Life and importance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47E305-D5C7-4AE4-BB4C-BC0810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7315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C6B82"/>
                </a:solidFill>
              </a:defRPr>
            </a:pPr>
            <a:r>
              <a:rPr sz="1800">
                <a:solidFill>
                  <a:srgbClr val="4C6B82"/>
                </a:solidFill>
              </a:rPr>
              <a:t>Even in these harsh conditions, life exists and the ice is vital for Earth's balance.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16908-D31A-4D74-A32C-F34350A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1070"/>
            <a:ext cx="7700486" cy="678180"/>
          </a:xfrm>
          <a:prstGeom xmlns:a="http://schemas.openxmlformats.org/drawingml/2006/main" prst="roundRect">
            <a:avLst>
              <a:gd name="adj" fmla="val 16854"/>
            </a:avLst>
          </a:prstGeom>
          <a:solidFill xmlns:a="http://schemas.openxmlformats.org/drawingml/2006/main">
            <a:srgbClr val="DFF3F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1B624-C6AB-4AED-9934-8DAC614B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A5A"/>
                </a:solidFill>
              </a:defRPr>
            </a:pPr>
            <a:r>
              <a:rPr sz="1950">
                <a:solidFill>
                  <a:srgbClr val="123A5A"/>
                </a:solidFill>
              </a:rPr>
              <a:t>Simple vegetation: mosses, lichens, and very few flowers.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A93EB-6A25-4DE3-8BD0-4227C21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7700486" cy="678180"/>
          </a:xfrm>
          <a:prstGeom xmlns:a="http://schemas.openxmlformats.org/drawingml/2006/main" prst="roundRect">
            <a:avLst>
              <a:gd name="adj" fmla="val 16854"/>
            </a:avLst>
          </a:prstGeom>
          <a:solidFill xmlns:a="http://schemas.openxmlformats.org/drawingml/2006/main">
            <a:srgbClr val="CDEAF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94D14-7A56-4E1F-A47D-106E757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A5A"/>
                </a:solidFill>
              </a:defRPr>
            </a:pPr>
            <a:r>
              <a:rPr sz="1950">
                <a:solidFill>
                  <a:srgbClr val="123A5A"/>
                </a:solidFill>
              </a:rPr>
              <a:t>The Arctic supports more plant life than Antarctica.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8FAFC-A5B7-42BA-9F9D-EE24625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0330"/>
            <a:ext cx="7700486" cy="678180"/>
          </a:xfrm>
          <a:prstGeom xmlns:a="http://schemas.openxmlformats.org/drawingml/2006/main" prst="roundRect">
            <a:avLst>
              <a:gd name="adj" fmla="val 16854"/>
            </a:avLst>
          </a:prstGeom>
          <a:solidFill xmlns:a="http://schemas.openxmlformats.org/drawingml/2006/main">
            <a:srgbClr val="B8E0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209E8-BB6F-43F6-B97F-71813ED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A5A"/>
                </a:solidFill>
              </a:defRPr>
            </a:pPr>
            <a:r>
              <a:rPr sz="1950">
                <a:solidFill>
                  <a:srgbClr val="123A5A"/>
                </a:solidFill>
              </a:rPr>
              <a:t>Their ice helps reflect heat and regulate the global climate.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5D11D-CF5F-4ABC-A832-0A69974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736" y="2278380"/>
            <a:ext cx="8511064" cy="7322820"/>
          </a:xfrm>
          <a:prstGeom xmlns:a="http://schemas.openxmlformats.org/drawingml/2006/main" prst="roundRect">
            <a:avLst>
              <a:gd name="adj" fmla="val 2081"/>
            </a:avLst>
          </a:prstGeom>
          <a:solidFill xmlns:a="http://schemas.openxmlformats.org/drawingml/2006/main">
            <a:srgbClr val="0B1E3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3C99D-203E-4D07-AB9A-E372597B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3562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8FCFF"/>
                </a:solidFill>
              </a:defRPr>
            </a:pPr>
            <a:r>
              <a:rPr sz="4800" b="1">
                <a:solidFill>
                  <a:srgbClr val="F8FCFF"/>
                </a:solidFill>
              </a:rPr>
              <a:t>Brutal beauty,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95A0D-4FA1-4B88-809D-C868053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38800"/>
            <a:ext cx="3810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6EC5E9"/>
                </a:solidFill>
              </a:defRPr>
            </a:pPr>
            <a:r>
              <a:rPr sz="4800" b="1">
                <a:solidFill>
                  <a:srgbClr val="6EC5E9"/>
                </a:solidFill>
              </a:rPr>
              <a:t>global balance.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6E245-98B2-4D91-9BE0-6F705332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61060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DDF4FF"/>
                </a:solidFill>
              </a:defRPr>
            </a:pPr>
            <a:r>
              <a:rPr sz="1950">
                <a:solidFill>
                  <a:srgbClr val="DDF4FF"/>
                </a:solidFill>
              </a:rPr>
              <a:t>Conclusion: understanding and protecting these regions helps protect the future of our planet.</a:t>
            </a:r>
          </a:p>
        </p:txBody>
      </p:sp>
    </p:spTree>
    <p:extLst>
      <p:ext uri="{BB962C8B-B14F-4D97-AF65-F5344CB8AC3E}">
        <p14:creationId xmlns:p14="http://schemas.microsoft.com/office/powerpoint/2010/main" val="1592793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2026-05-19T00:34:32.9540000Z</dcterms:created>
  <dcterms:modified xsi:type="dcterms:W3CDTF">2026-05-19T00:34:32.9540000Z</dcterms:modified>
</coreProperties>
</file>